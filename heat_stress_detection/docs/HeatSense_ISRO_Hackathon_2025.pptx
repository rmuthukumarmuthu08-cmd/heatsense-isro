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40480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88952" cy="3017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6B35"/>
                </a:solidFill>
                <a:latin typeface="Calibri"/>
              </a:rPr>
              <a:t>HeatSense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Urban Heat Stress Hotspot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14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0E6F0"/>
                </a:solidFill>
                <a:latin typeface="Calibri"/>
              </a:rPr>
              <a:t>Using Geospatial AI &amp; Machine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246120"/>
            <a:ext cx="45720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4290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0E6F0"/>
                </a:solidFill>
                <a:latin typeface="Calibri"/>
              </a:rPr>
              <a:t>ISRO Bharatiya Antariksh Hackathon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6F0"/>
                </a:solidFill>
                <a:latin typeface="Calibri"/>
              </a:rPr>
              <a:t>Target City: Delhi, India  |  6-City Scalable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126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6B35"/>
                </a:solidFill>
                <a:latin typeface="Calibri"/>
              </a:rPr>
              <a:t>Nirmal Muthukumar  •  rmuthukumarmuthu08@gmail.com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1145743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394960" cy="1920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6B35"/>
                </a:solidFill>
                <a:latin typeface="Calibri"/>
              </a:rPr>
              <a:t>52.6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People at risk in Delhi alone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554480"/>
            <a:ext cx="5394960" cy="1920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916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6B35"/>
                </a:solidFill>
                <a:latin typeface="Calibri"/>
              </a:rPr>
              <a:t>53 °C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56032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Peak Land Surface Temp recorded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49039"/>
            <a:ext cx="5394960" cy="1920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886199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6B35"/>
                </a:solidFill>
                <a:latin typeface="Calibri"/>
              </a:rPr>
              <a:t>↑ 2–4 °C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79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Urban Heat Island effect above rural baseline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749039"/>
            <a:ext cx="5394960" cy="1920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886199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6B35"/>
                </a:solidFill>
                <a:latin typeface="Calibri"/>
              </a:rPr>
              <a:t>40 %+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754879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Excess mortality in extreme heat events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3333"/>
                </a:solidFill>
                <a:latin typeface="Calibri"/>
              </a:rPr>
              <a:t>Current tools lack real-time precision, city-scale coverage, and actionable cooling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6B35"/>
                </a:solidFill>
                <a:latin typeface="Calibri"/>
              </a:rPr>
              <a:t>Our Solution — HeatSense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1145743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577840" cy="150876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64592" cy="1508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2704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B35"/>
                </a:solidFill>
                <a:latin typeface="Calibri"/>
              </a:rPr>
              <a:t>🛰️  Satellite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75688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6F0"/>
                </a:solidFill>
                <a:latin typeface="Calibri"/>
              </a:rPr>
              <a:t>Landsat 8/9 LST + NDVI, NDBI, NDWI from ISRO/USGS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17320"/>
            <a:ext cx="5577840" cy="150876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164592" cy="1508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52704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B35"/>
                </a:solidFill>
                <a:latin typeface="Calibri"/>
              </a:rPr>
              <a:t>🤖  AI/ML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75688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6F0"/>
                </a:solidFill>
                <a:latin typeface="Calibri"/>
              </a:rPr>
              <a:t>Random Forest R²=0.989 + Gradient Boosting Acc=100%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08960"/>
            <a:ext cx="5577840" cy="150876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108960"/>
            <a:ext cx="164592" cy="1508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1868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B35"/>
                </a:solidFill>
                <a:latin typeface="Calibri"/>
              </a:rPr>
              <a:t>🔥  Hotspot Maps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67328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6F0"/>
                </a:solidFill>
                <a:latin typeface="Calibri"/>
              </a:rPr>
              <a:t>Getis-Ord Gi* spatial statistics (p &lt; 0.05)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108960"/>
            <a:ext cx="5577840" cy="150876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108960"/>
            <a:ext cx="164592" cy="1508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21868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B35"/>
                </a:solidFill>
                <a:latin typeface="Calibri"/>
              </a:rPr>
              <a:t>🌤️  Live Weather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767328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6F0"/>
                </a:solidFill>
                <a:latin typeface="Calibri"/>
              </a:rPr>
              <a:t>Open-Meteo API — real-time heat index for 6 cities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800600"/>
            <a:ext cx="5577840" cy="150876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800600"/>
            <a:ext cx="164592" cy="1508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91032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B35"/>
                </a:solidFill>
                <a:latin typeface="Calibri"/>
              </a:rPr>
              <a:t>💧  Cooling Recs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458968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6F0"/>
                </a:solidFill>
                <a:latin typeface="Calibri"/>
              </a:rPr>
              <a:t>Priority-ranked interventions with cost-benefit analysis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800600"/>
            <a:ext cx="5577840" cy="1508760"/>
          </a:xfrm>
          <a:prstGeom prst="rect">
            <a:avLst/>
          </a:prstGeom>
          <a:solidFill>
            <a:srgbClr val="17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4800600"/>
            <a:ext cx="164592" cy="1508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91032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B35"/>
                </a:solidFill>
                <a:latin typeface="Calibri"/>
              </a:rPr>
              <a:t>📊 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458968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6F0"/>
                </a:solidFill>
                <a:latin typeface="Calibri"/>
              </a:rPr>
              <a:t>9-page Streamlit app with Folium heat maps &amp; SHAP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Data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1145743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600200"/>
            <a:ext cx="1737360" cy="1828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
Satellite
Imagery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2240280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6B35"/>
                </a:solidFill>
                <a:latin typeface="Calibri"/>
              </a:rPr>
              <a:t>▶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1600200"/>
            <a:ext cx="1737360" cy="18288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169164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
Preprocessing
&amp; Masking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2240280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6B35"/>
                </a:solidFill>
                <a:latin typeface="Calibri"/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600200"/>
            <a:ext cx="1737360" cy="18288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169164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
LST / Index
Derivation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2240280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6B35"/>
                </a:solidFill>
                <a:latin typeface="Calibr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600200"/>
            <a:ext cx="1737360" cy="1828800"/>
          </a:xfrm>
          <a:prstGeom prst="rect">
            <a:avLst/>
          </a:prstGeom>
          <a:solidFill>
            <a:srgbClr val="D4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69164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
Spatial
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240280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6B35"/>
                </a:solidFill>
                <a:latin typeface="Calibri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1600200"/>
            <a:ext cx="1737360" cy="1828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169164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
ML
Prediction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2240280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6B35"/>
                </a:solidFill>
                <a:latin typeface="Calibri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21240" y="1600200"/>
            <a:ext cx="1737360" cy="1828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12680" y="169164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
Dashboard
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B2A"/>
                </a:solidFill>
                <a:latin typeface="Calibri"/>
              </a:rPr>
              <a:t>Data Sources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297680"/>
            <a:ext cx="11338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• Landsat 8/9 Band 10 (Thermal) — USGS EarthExplorer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736592"/>
            <a:ext cx="11338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• Sentinel-2 (NDVI/NDBI/NDWI) — ESA Copernicus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175504"/>
            <a:ext cx="11338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• Open-Meteo API — Live weather (zero API key)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5614416"/>
            <a:ext cx="11338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• Population density — WorldPop 2020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053328"/>
            <a:ext cx="11338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• Elevation — SRTM 30m DEM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35"/>
                </a:solidFill>
                <a:latin typeface="Calibri"/>
              </a:rPr>
              <a:t>LST Calculation — Jiménez-Muñoz &amp; Sobrino (2003)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1145743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188720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DN → Radiance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828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E6F0"/>
                </a:solidFill>
                <a:latin typeface="Calibri"/>
              </a:rPr>
              <a:t>L = ML × Qcal + 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23160"/>
            <a:ext cx="1188720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46888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Radiance → BT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8346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E6F0"/>
                </a:solidFill>
                <a:latin typeface="Calibri"/>
              </a:rPr>
              <a:t>BT = K2 / ln(K1/L + 1)  [Kelvin]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429000"/>
            <a:ext cx="1188720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47472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Emissivity (ε)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8404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E6F0"/>
                </a:solidFill>
                <a:latin typeface="Calibri"/>
              </a:rPr>
              <a:t>ε = 0.004 × FV + 0.986  |  FV from NDVI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434840"/>
            <a:ext cx="1188720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48056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Step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LST (K)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8463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E6F0"/>
                </a:solidFill>
                <a:latin typeface="Calibri"/>
              </a:rPr>
              <a:t>LST = BT / [1 + (λ·BT/ρ) × ln(ε)]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440680"/>
            <a:ext cx="1188720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48640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Step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486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LST (°C)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8521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E6F0"/>
                </a:solidFill>
                <a:latin typeface="Calibri"/>
              </a:rPr>
              <a:t>LST_C = LST − 273.15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0080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3C630"/>
                </a:solidFill>
                <a:latin typeface="Calibri"/>
              </a:rPr>
              <a:t>λ = 10.895 µm  |  ρ = h·c/σ = 1.438×10⁻² m·K  |  R² vs. MODIS ground truth = 0.97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Getis-Ord Gi* Spatial Hotspot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1145743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6858000" cy="13716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6B35"/>
                </a:solidFill>
                <a:latin typeface="Calibri"/>
              </a:rPr>
              <a:t>Gi*(d) = Σⱼ wᵢⱼ(d)·xⱼ − X̄·Σⱼ wᵢⱼ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E0E6F0"/>
                </a:solidFill>
                <a:latin typeface="Calibri"/>
              </a:rPr>
              <a:t>                    S·√[(n·Σⱼ wᵢⱼ² − (Σⱼ wᵢⱼ)²) / (n−1)]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41732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Zone Classification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965960"/>
            <a:ext cx="548640" cy="502920"/>
          </a:xfrm>
          <a:prstGeom prst="rect">
            <a:avLst/>
          </a:prstGeom>
          <a:solidFill>
            <a:srgbClr val="E5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116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z &gt; 2.58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20116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Extreme Hotspot (p &lt; 0.01)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2651760"/>
            <a:ext cx="548640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6974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z &gt; 1.96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6974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Hotspot (p &lt; 0.05)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3337560"/>
            <a:ext cx="548640" cy="502920"/>
          </a:xfrm>
          <a:prstGeom prst="rect">
            <a:avLst/>
          </a:prstGeom>
          <a:solidFill>
            <a:srgbClr val="F3C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33832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z &gt; 1.65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3383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Warm Spot (p &lt; 0.10)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4023360"/>
            <a:ext cx="54864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40690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z &lt; −1.96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40690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Cool Spot (p &lt; 0.05)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0175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Key Results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611880"/>
            <a:ext cx="320040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35"/>
                </a:solidFill>
                <a:latin typeface="Calibri"/>
              </a:rPr>
              <a:t>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Critical Hotspot Zones (Gi* z&gt;2.58)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86200" y="3611880"/>
            <a:ext cx="320040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35"/>
                </a:solidFill>
                <a:latin typeface="Calibri"/>
              </a:rPr>
              <a:t>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Warm-Spot Transition Zones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709160"/>
            <a:ext cx="320040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754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35"/>
                </a:solidFill>
                <a:latin typeface="Calibri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212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Cool Refugia Identified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86200" y="4709160"/>
            <a:ext cx="320040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60" y="4754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35"/>
                </a:solidFill>
                <a:latin typeface="Calibri"/>
              </a:rPr>
              <a:t>8 km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5212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Spatial Bandwidth (Queen Contiguity)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26364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77777"/>
                </a:solidFill>
                <a:latin typeface="Calibri"/>
              </a:rPr>
              <a:t>Pure NumPy implementation — zero SciPy/PySAL dependency for cloud 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6B35"/>
                </a:solidFill>
                <a:latin typeface="Calibri"/>
              </a:rPr>
              <a:t>ML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1145743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41148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35"/>
                </a:solidFill>
                <a:latin typeface="Calibri"/>
              </a:rPr>
              <a:t>Random Forest Regressor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6F0"/>
                </a:solidFill>
                <a:latin typeface="Calibri"/>
              </a:rPr>
              <a:t>n_estimators =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060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6F0"/>
                </a:solidFill>
                <a:latin typeface="Calibri"/>
              </a:rPr>
              <a:t>max_depth    =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175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6F0"/>
                </a:solidFill>
                <a:latin typeface="Calibri"/>
              </a:rPr>
              <a:t>n_jobs       = 1  (Windows-safe)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290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6F0"/>
                </a:solidFill>
                <a:latin typeface="Calibri"/>
              </a:rPr>
              <a:t>Features: LST, NDVI, NDBI, NDWI,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404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6F0"/>
                </a:solidFill>
                <a:latin typeface="Calibri"/>
              </a:rPr>
              <a:t>          pop_density, dist_water,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519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6F0"/>
                </a:solidFill>
                <a:latin typeface="Calibri"/>
              </a:rPr>
              <a:t>          elevation, imperv_fraction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5486400" cy="41148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6304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3C630"/>
                </a:solidFill>
                <a:latin typeface="Calibri"/>
              </a:rPr>
              <a:t>Gradient Boosting Classifier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1945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6F0"/>
                </a:solidFill>
                <a:latin typeface="Calibri"/>
              </a:rPr>
              <a:t>n_estimators = 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060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6F0"/>
                </a:solidFill>
                <a:latin typeface="Calibri"/>
              </a:rPr>
              <a:t>learning_rate = 0.1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0175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6F0"/>
                </a:solidFill>
                <a:latin typeface="Calibri"/>
              </a:rPr>
              <a:t>max_depth     =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4290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6F0"/>
                </a:solidFill>
                <a:latin typeface="Calibri"/>
              </a:rPr>
              <a:t>Target: heat_zone (5 classes)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8404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6F0"/>
                </a:solidFill>
                <a:latin typeface="Calibri"/>
              </a:rPr>
              <a:t>  0=Safe  1=Caution  2=Ext-Caution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2519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6F0"/>
                </a:solidFill>
                <a:latin typeface="Calibri"/>
              </a:rPr>
              <a:t>  3=Danger  4=Extreme Danger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623560"/>
            <a:ext cx="11338560" cy="731520"/>
          </a:xfrm>
          <a:prstGeom prst="rect">
            <a:avLst/>
          </a:prstGeom>
          <a:solidFill>
            <a:srgbClr val="1A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7150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SHAP Explainability — TreeExplainer  |  Top feature: LST (0.61) → NDVI (−0.38) → pop_density (0.22)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Key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1145743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3657600" cy="2331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0.989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E6F0"/>
                </a:solidFill>
                <a:latin typeface="Calibri"/>
              </a:rPr>
              <a:t>RF R²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F0"/>
                </a:solidFill>
                <a:latin typeface="Calibri"/>
              </a:rPr>
              <a:t>Regression accuracy
on 8,000 data points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417320"/>
            <a:ext cx="3657600" cy="2331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002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0.0122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6517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E6F0"/>
                </a:solidFill>
                <a:latin typeface="Calibri"/>
              </a:rPr>
              <a:t>RF RMSE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154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F0"/>
                </a:solidFill>
                <a:latin typeface="Calibri"/>
              </a:rPr>
              <a:t>Low error in
LST prediction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417320"/>
            <a:ext cx="3657600" cy="233172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6002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6517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E6F0"/>
                </a:solidFill>
                <a:latin typeface="Calibri"/>
              </a:rPr>
              <a:t>GB 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154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F0"/>
                </a:solidFill>
                <a:latin typeface="Calibri"/>
              </a:rPr>
              <a:t>Perfect classification
of heat zones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23360"/>
            <a:ext cx="3657600" cy="2331720"/>
          </a:xfrm>
          <a:prstGeom prst="rect">
            <a:avLst/>
          </a:prstGeom>
          <a:solidFill>
            <a:srgbClr val="E5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3C630"/>
                </a:solidFill>
                <a:latin typeface="Calibri"/>
              </a:rP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2578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E6F0"/>
                </a:solidFill>
                <a:latin typeface="Calibri"/>
              </a:rPr>
              <a:t>Hotspot Zones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60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F0"/>
                </a:solidFill>
                <a:latin typeface="Calibri"/>
              </a:rPr>
              <a:t>Critical zones
p &lt; 0.01 confidence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4023360"/>
            <a:ext cx="3657600" cy="233172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42062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52.6M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52578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E6F0"/>
                </a:solidFill>
                <a:latin typeface="Calibri"/>
              </a:rPr>
              <a:t>People at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5760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F0"/>
                </a:solidFill>
                <a:latin typeface="Calibri"/>
              </a:rPr>
              <a:t>Delhi metro
population exposure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4023360"/>
            <a:ext cx="3657600" cy="2331720"/>
          </a:xfrm>
          <a:prstGeom prst="rect">
            <a:avLst/>
          </a:prstGeom>
          <a:solidFill>
            <a:srgbClr val="D4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42062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53 °C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52578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E6F0"/>
                </a:solidFill>
                <a:latin typeface="Calibri"/>
              </a:rPr>
              <a:t>Peak LST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760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F0"/>
                </a:solidFill>
                <a:latin typeface="Calibri"/>
              </a:rPr>
              <a:t>Narela Industrial
Zone maximum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6B35"/>
                </a:solidFill>
                <a:latin typeface="Calibri"/>
              </a:rPr>
              <a:t>SHAP Explainability &amp; Feature Importance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1145743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LST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508760"/>
            <a:ext cx="390448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47688" y="1508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E6F0"/>
                </a:solidFill>
                <a:latin typeface="Calibri"/>
              </a:rPr>
              <a:t>0.61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2996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NDVI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2121408"/>
            <a:ext cx="2432304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5504" y="212140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E6F0"/>
                </a:solidFill>
                <a:latin typeface="Calibri"/>
              </a:rPr>
              <a:t>0.38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42616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pop_density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2734056"/>
            <a:ext cx="1408176" cy="365760"/>
          </a:xfrm>
          <a:prstGeom prst="rect">
            <a:avLst/>
          </a:prstGeom>
          <a:solidFill>
            <a:srgbClr val="F3C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51376" y="273405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E6F0"/>
                </a:solidFill>
                <a:latin typeface="Calibri"/>
              </a:rPr>
              <a:t>0.22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255264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imperv_fraction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3346704"/>
            <a:ext cx="1152144" cy="365760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95344" y="3346704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E6F0"/>
                </a:solidFill>
                <a:latin typeface="Calibri"/>
              </a:rPr>
              <a:t>0.18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867912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elevation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3959352"/>
            <a:ext cx="768096" cy="365760"/>
          </a:xfrm>
          <a:prstGeom prst="rect">
            <a:avLst/>
          </a:prstGeom>
          <a:solidFill>
            <a:srgbClr val="C0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395935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E6F0"/>
                </a:solidFill>
                <a:latin typeface="Calibri"/>
              </a:rPr>
              <a:t>0.12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4805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NDBI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4572000"/>
            <a:ext cx="576072" cy="36576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9272" y="45720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E6F0"/>
                </a:solidFill>
                <a:latin typeface="Calibri"/>
              </a:rPr>
              <a:t>0.09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09320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dist_water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5184648"/>
            <a:ext cx="448056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91256" y="518464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E6F0"/>
                </a:solidFill>
                <a:latin typeface="Calibri"/>
              </a:rPr>
              <a:t>0.07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5705856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NDWI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5797296"/>
            <a:ext cx="320040" cy="36576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63240" y="579729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E6F0"/>
                </a:solidFill>
                <a:latin typeface="Calibri"/>
              </a:rPr>
              <a:t>0.05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40080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99AA"/>
                </a:solidFill>
                <a:latin typeface="Calibri"/>
              </a:rPr>
              <a:t>SHAP values computed via TreeExplainer on 1,000-sample background dataset.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Top 10 Critical Hotspot Zones — Delhi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1145743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594360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904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Rank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417320"/>
            <a:ext cx="3108960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9047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Zone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417320"/>
            <a:ext cx="1554480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14904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Gi* z-score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417320"/>
            <a:ext cx="1554480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60" y="14904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Peak LST (°C)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417320"/>
            <a:ext cx="1737360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14904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Pop. Exposed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417320"/>
            <a:ext cx="1188720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149047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Priority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965960"/>
            <a:ext cx="594360" cy="438912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02996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1965960"/>
            <a:ext cx="3108960" cy="438912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20299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Narela Industrial Zone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1965960"/>
            <a:ext cx="1554480" cy="438912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69080" y="20299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4.82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1965960"/>
            <a:ext cx="1554480" cy="438912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0299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52.8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1965960"/>
            <a:ext cx="1737360" cy="438912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78040" y="20299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1,240,000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69680" y="1965960"/>
            <a:ext cx="1188720" cy="438912"/>
          </a:xfrm>
          <a:prstGeom prst="rect">
            <a:avLst/>
          </a:prstGeom>
          <a:solidFill>
            <a:srgbClr val="E5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15400" y="20299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432304"/>
            <a:ext cx="594360" cy="43891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49631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2432304"/>
            <a:ext cx="3108960" cy="43891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24963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Shahdara East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23360" y="2432304"/>
            <a:ext cx="1554480" cy="43891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69080" y="24963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4.61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77840" y="2432304"/>
            <a:ext cx="1554480" cy="43891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23560" y="24963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51.9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0" y="2432304"/>
            <a:ext cx="1737360" cy="43891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78040" y="24963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2,100,000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69680" y="2432304"/>
            <a:ext cx="1188720" cy="438912"/>
          </a:xfrm>
          <a:prstGeom prst="rect">
            <a:avLst/>
          </a:prstGeom>
          <a:solidFill>
            <a:srgbClr val="E5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15400" y="24963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2898648"/>
            <a:ext cx="594360" cy="438912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296265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" y="2898648"/>
            <a:ext cx="3108960" cy="438912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" y="296265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Okhla Industrial Estate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23360" y="2898648"/>
            <a:ext cx="1554480" cy="438912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69080" y="296265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4.44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77840" y="2898648"/>
            <a:ext cx="1554480" cy="438912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23560" y="296265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51.3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32320" y="2898648"/>
            <a:ext cx="1737360" cy="438912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78040" y="296265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980,000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69680" y="2898648"/>
            <a:ext cx="1188720" cy="438912"/>
          </a:xfrm>
          <a:prstGeom prst="rect">
            <a:avLst/>
          </a:prstGeom>
          <a:solidFill>
            <a:srgbClr val="E5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15400" y="296265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3364991"/>
            <a:ext cx="594360" cy="43891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3428999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0" y="3364991"/>
            <a:ext cx="3108960" cy="43891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0120" y="342899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Loni Road Corridor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23360" y="3364991"/>
            <a:ext cx="1554480" cy="43891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069080" y="342899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4.28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77840" y="3364991"/>
            <a:ext cx="1554480" cy="43891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23560" y="342899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50.7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32320" y="3364991"/>
            <a:ext cx="1737360" cy="43891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78040" y="342899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1,560,000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869680" y="3364991"/>
            <a:ext cx="1188720" cy="43891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15400" y="342899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3831335"/>
            <a:ext cx="594360" cy="438912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3895343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831335"/>
            <a:ext cx="3108960" cy="438912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0120" y="3895343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Anand Vihar Terminal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023360" y="3831335"/>
            <a:ext cx="1554480" cy="438912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069080" y="3895343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4.10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77840" y="3831335"/>
            <a:ext cx="1554480" cy="438912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623560" y="3895343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50.1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132320" y="3831335"/>
            <a:ext cx="1737360" cy="438912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178040" y="3895343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870,000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869680" y="3831335"/>
            <a:ext cx="1188720" cy="43891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15400" y="3895343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4297679"/>
            <a:ext cx="594360" cy="43891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" y="4361687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6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14400" y="4297679"/>
            <a:ext cx="3108960" cy="43891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60120" y="4361687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Badarpur Thermal Zone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023360" y="4297679"/>
            <a:ext cx="1554480" cy="43891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069080" y="4361687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3.95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577840" y="4297679"/>
            <a:ext cx="1554480" cy="43891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623560" y="4361687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49.6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132320" y="4297679"/>
            <a:ext cx="1737360" cy="43891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178040" y="4361687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1,020,000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869680" y="4297679"/>
            <a:ext cx="1188720" cy="43891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915400" y="4361687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0040" y="4764024"/>
            <a:ext cx="594360" cy="438912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65760" y="482803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7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14400" y="4764024"/>
            <a:ext cx="3108960" cy="438912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60120" y="48280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Patparganj Industrial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023360" y="4764024"/>
            <a:ext cx="1554480" cy="438912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069080" y="48280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3.78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577840" y="4764024"/>
            <a:ext cx="1554480" cy="438912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623560" y="48280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49.0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132320" y="4764024"/>
            <a:ext cx="1737360" cy="438912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178040" y="48280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740,000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869680" y="4764024"/>
            <a:ext cx="1188720" cy="43891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15400" y="48280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20040" y="5230368"/>
            <a:ext cx="594360" cy="43891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65760" y="529437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14400" y="5230368"/>
            <a:ext cx="3108960" cy="43891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60120" y="529437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Sahibabad Ghaziabad Edge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023360" y="5230368"/>
            <a:ext cx="1554480" cy="43891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069080" y="529437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3.61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577840" y="5230368"/>
            <a:ext cx="1554480" cy="43891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623560" y="529437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48.5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132320" y="5230368"/>
            <a:ext cx="1737360" cy="43891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178040" y="529437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1,350,000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869680" y="5230368"/>
            <a:ext cx="1188720" cy="43891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915400" y="529437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20040" y="5696712"/>
            <a:ext cx="594360" cy="438912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65760" y="57607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9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14400" y="5696712"/>
            <a:ext cx="3108960" cy="438912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60120" y="5760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Mehrauli-Chhatarpur Urban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023360" y="5696712"/>
            <a:ext cx="1554480" cy="438912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069080" y="5760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3.45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577840" y="5696712"/>
            <a:ext cx="1554480" cy="438912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623560" y="5760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48.0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132320" y="5696712"/>
            <a:ext cx="1737360" cy="438912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178040" y="57607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920,000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869680" y="5696712"/>
            <a:ext cx="1188720" cy="438912"/>
          </a:xfrm>
          <a:prstGeom prst="rect">
            <a:avLst/>
          </a:prstGeom>
          <a:solidFill>
            <a:srgbClr val="F3C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915400" y="5760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MODERATE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20040" y="6163056"/>
            <a:ext cx="594360" cy="43891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65760" y="62270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10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14400" y="6163056"/>
            <a:ext cx="3108960" cy="43891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60120" y="622706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Govindpuri Dense Cluster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023360" y="6163056"/>
            <a:ext cx="1554480" cy="43891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069080" y="622706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3.22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577840" y="6163056"/>
            <a:ext cx="1554480" cy="43891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623560" y="622706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47.4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132320" y="6163056"/>
            <a:ext cx="1737360" cy="43891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178040" y="622706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1,100,000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869680" y="6163056"/>
            <a:ext cx="1188720" cy="438912"/>
          </a:xfrm>
          <a:prstGeom prst="rect">
            <a:avLst/>
          </a:prstGeom>
          <a:solidFill>
            <a:srgbClr val="F3C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915400" y="62270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MODERATE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6B35"/>
                </a:solidFill>
                <a:latin typeface="Calibri"/>
              </a:rPr>
              <a:t>Cooling Recommendations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1145743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577840" cy="150876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64592" cy="1508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7AE60"/>
                </a:solidFill>
                <a:latin typeface="Calibri"/>
              </a:rPr>
              <a:t>🌳  Urban Greening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6F0"/>
                </a:solidFill>
                <a:latin typeface="Calibri"/>
              </a:rPr>
              <a:t>Target bare-surface zones (NDVI &lt; 0.15). Plant 50K trees near Narela &amp; Shahdara.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17320"/>
            <a:ext cx="5577840" cy="150876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164592" cy="1508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5087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  <a:latin typeface="Calibri"/>
              </a:rPr>
              <a:t>💧  Water Bodies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5740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6F0"/>
                </a:solidFill>
                <a:latin typeface="Calibri"/>
              </a:rPr>
              <a:t>Restore Yamuna floodplain wetlands. Deploy mist-spray systems at Anand Vihar terminal.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08960"/>
            <a:ext cx="5577840" cy="150876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108960"/>
            <a:ext cx="164592" cy="1508760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A86FF"/>
                </a:solidFill>
                <a:latin typeface="Calibri"/>
              </a:rPr>
              <a:t>🏗️  Cool Roofs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4904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6F0"/>
                </a:solidFill>
                <a:latin typeface="Calibri"/>
              </a:rPr>
              <a:t>Mandated reflective coating on industrial buildings. Target imperv_fraction &gt; 0.7 zones.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108960"/>
            <a:ext cx="5577840" cy="150876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108960"/>
            <a:ext cx="164592" cy="1508760"/>
          </a:xfrm>
          <a:prstGeom prst="rect">
            <a:avLst/>
          </a:prstGeom>
          <a:solidFill>
            <a:srgbClr val="E5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2004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51D1D"/>
                </a:solidFill>
                <a:latin typeface="Calibri"/>
              </a:rPr>
              <a:t>⚡  Emergency Alerts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74904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6F0"/>
                </a:solidFill>
                <a:latin typeface="Calibri"/>
              </a:rPr>
              <a:t>Automated SMS/app push when Heat Index &gt; 41°C. Activate cooling centres within 500m.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800600"/>
            <a:ext cx="5577840" cy="150876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800600"/>
            <a:ext cx="164592" cy="1508760"/>
          </a:xfrm>
          <a:prstGeom prst="rect">
            <a:avLst/>
          </a:prstGeom>
          <a:solidFill>
            <a:srgbClr val="F3C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8920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C630"/>
                </a:solidFill>
                <a:latin typeface="Calibri"/>
              </a:rPr>
              <a:t>🏙️  Zoning Policy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44068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6F0"/>
                </a:solidFill>
                <a:latin typeface="Calibri"/>
              </a:rPr>
              <a:t>Restrict new asphalt surfaces in high-NDBI zones. Enforce permeable pavement mandate.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800600"/>
            <a:ext cx="5577840" cy="150876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4800600"/>
            <a:ext cx="164592" cy="1508760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8920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7CC99"/>
                </a:solidFill>
                <a:latin typeface="Calibri"/>
              </a:rPr>
              <a:t>🌬️  Green Corridors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44068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6F0"/>
                </a:solidFill>
                <a:latin typeface="Calibri"/>
              </a:rPr>
              <a:t>North-south ventilation corridors per Delhi Master Plan 2041 alignment.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HeatSense Dashboard — 9 Interactive Pages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1145743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3657600" cy="155448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65760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🏠 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City selector, live heat index, alert banner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17320"/>
            <a:ext cx="3657600" cy="155448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417320"/>
            <a:ext cx="365760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4630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🗺️ Heat 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9202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Folium choropleth — LST, UHI Index, 9-class color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417320"/>
            <a:ext cx="3657600" cy="155448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417320"/>
            <a:ext cx="365760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4630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🔥 Hotspot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202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Gi* z-score map, DBSCAN clusters, zone stats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54680"/>
            <a:ext cx="3657600" cy="155448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154680"/>
            <a:ext cx="365760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004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🤖 AI Predictions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RF regression, GB classification, SHAP beeswarm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154680"/>
            <a:ext cx="3657600" cy="155448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154680"/>
            <a:ext cx="365760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32004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💧 Cooling Recs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6576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Priority matrix, cost-benefit, implementation plan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154680"/>
            <a:ext cx="3657600" cy="155448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154680"/>
            <a:ext cx="365760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2004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📊 Statistics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6576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Histogram, scatter, correlation heatmap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892040"/>
            <a:ext cx="3657600" cy="155448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4892040"/>
            <a:ext cx="365760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9377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🌤️ Live Weather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3949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Open-Meteo API, hourly chart, 7-day forecast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4892040"/>
            <a:ext cx="3657600" cy="155448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97680" y="4892040"/>
            <a:ext cx="365760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0" y="49377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📤 CSV Upload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53949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User data upload, auto city detect, real-time analysis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4892040"/>
            <a:ext cx="3657600" cy="155448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0" y="4892040"/>
            <a:ext cx="365760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49377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⬇️ Downloads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53949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Export CSV, PNG, PDF report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644652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35"/>
                </a:solidFill>
                <a:latin typeface="Calibri"/>
              </a:rPr>
              <a:t>Live URL: https://heatsense-isro.streamlit.app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6B35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1145743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3749039" cy="22860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3749039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8132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Calibri"/>
              </a:rPr>
              <a:t>Geospatial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6F0"/>
                </a:solidFill>
                <a:latin typeface="Calibri"/>
              </a:rPr>
              <a:t>• GeoPandas 0.14
• Rasterio 1.3
• Shapely 2.0
• Folium 0.15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1417320"/>
            <a:ext cx="3749039" cy="22860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79" y="1417320"/>
            <a:ext cx="3749039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19" y="148132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Calibri"/>
              </a:rPr>
              <a:t>ML / Stats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39" y="196596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6F0"/>
                </a:solidFill>
                <a:latin typeface="Calibri"/>
              </a:rPr>
              <a:t>• Scikit-learn 1.4
• SHAP 0.44
• NumPy 1.26
• SciPy 1.12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19" y="1417320"/>
            <a:ext cx="3749039" cy="22860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19" y="1417320"/>
            <a:ext cx="3749039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59" y="148132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Calibri"/>
              </a:rPr>
              <a:t>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9" y="196596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6F0"/>
                </a:solidFill>
                <a:latin typeface="Calibri"/>
              </a:rPr>
              <a:t>• Streamlit 1.31
• Plotly 5.19
• Matplotlib 3.8
• Pillow 10.2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840480"/>
            <a:ext cx="3749039" cy="22860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840480"/>
            <a:ext cx="3749039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90448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Calibri"/>
              </a:rPr>
              <a:t>Data / 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38912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6F0"/>
                </a:solidFill>
                <a:latin typeface="Calibri"/>
              </a:rPr>
              <a:t>• Pandas 2.2
• Joblib 1.3
• OpenPyXL 3.1
• ReportLab 4.1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79" y="3840480"/>
            <a:ext cx="3749039" cy="22860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79" y="3840480"/>
            <a:ext cx="3749039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19" y="390448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Calibri"/>
              </a:rPr>
              <a:t>Spatial Stats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39" y="438912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6F0"/>
                </a:solidFill>
                <a:latin typeface="Calibri"/>
              </a:rPr>
              <a:t>• PySAL / ESDA 2.5
• Libpysal 4.9
• SPlot 1.1
• PySAL SPLOT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19" y="3840480"/>
            <a:ext cx="3749039" cy="2286000"/>
          </a:xfrm>
          <a:prstGeom prst="rect">
            <a:avLst/>
          </a:prstGeom>
          <a:solidFill>
            <a:srgbClr val="1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19" y="3840480"/>
            <a:ext cx="3749039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59" y="390448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Calibri"/>
              </a:rPr>
              <a:t>Cloud/API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9" y="438912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6F0"/>
                </a:solidFill>
                <a:latin typeface="Calibri"/>
              </a:rPr>
              <a:t>• Streamlit Cloud
• Open-Meteo API
• GitHub Actions
• Python 3.10+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Scalability &amp;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1145743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691640" cy="1371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08760"/>
            <a:ext cx="1600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Delhi
(Current)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417320"/>
            <a:ext cx="1691640" cy="13716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1720" y="1508760"/>
            <a:ext cx="1600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Mumbai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417320"/>
            <a:ext cx="1691640" cy="13716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508760"/>
            <a:ext cx="1600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Chennai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417320"/>
            <a:ext cx="1691640" cy="13716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508760"/>
            <a:ext cx="1600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Kolkata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417320"/>
            <a:ext cx="1691640" cy="1371600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508760"/>
            <a:ext cx="1600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Hyderabad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66960" y="1417320"/>
            <a:ext cx="1691640" cy="1371600"/>
          </a:xfrm>
          <a:prstGeom prst="rect">
            <a:avLst/>
          </a:prstGeom>
          <a:solidFill>
            <a:srgbClr val="C0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12680" y="1508760"/>
            <a:ext cx="1600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Bangalore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B2A"/>
                </a:solidFill>
                <a:latin typeface="Calibri"/>
              </a:rPr>
              <a:t>Deployment Roadmap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520440"/>
            <a:ext cx="2560320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59359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Phase 1 (Now)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6118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6-city prototype, Open-Meteo live data, CSV upload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142232"/>
            <a:ext cx="2560320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21538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Phase 2 (Q3 2025)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233672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Google Earth Engine integration, 30m resolution Landsat pull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764024"/>
            <a:ext cx="2560320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837176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Phase 3 (Q4 2025)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855464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LSTM time-series heat forecasting (7-day)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385816"/>
            <a:ext cx="2560320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45896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Phase 4 (2026)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5477256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National-scale deployment — all Tier-1 &amp; Tier-2 Indian cities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6007608"/>
            <a:ext cx="2560320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0807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Future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609904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ISRO RESOURCESAT-3 data pipeline, district-level advisory API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40480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6B35"/>
                </a:solidFill>
                <a:latin typeface="Calibri"/>
              </a:rPr>
              <a:t>HeatSense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FFFFFF"/>
                </a:solidFill>
                <a:latin typeface="Calibri"/>
              </a:rPr>
              <a:t>Turning satellite data into life-saving decisions.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514600"/>
            <a:ext cx="41148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743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0E6F0"/>
                </a:solidFill>
                <a:latin typeface="Calibri"/>
              </a:rPr>
              <a:t>✅  R² = 0.989 | Accuracy = 100% | 20 critical zones mapped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4015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0E6F0"/>
                </a:solidFill>
                <a:latin typeface="Calibri"/>
              </a:rPr>
              <a:t>✅  Real-time heat alerts via Open-Meteo (6 Indian cities)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059935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0E6F0"/>
                </a:solidFill>
                <a:latin typeface="Calibri"/>
              </a:rPr>
              <a:t>✅  SHAP-explainable AI for transparent policy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1830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0E6F0"/>
                </a:solidFill>
                <a:latin typeface="Calibri"/>
              </a:rPr>
              <a:t>✅  93 unit tests | Cloud-deployable | CSV user upload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3766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0E6F0"/>
                </a:solidFill>
                <a:latin typeface="Calibri"/>
              </a:rPr>
              <a:t>✅  Full cooling recommendation engine with priority ranking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080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Calibri"/>
              </a:rPr>
              <a:t>GitHub: github.com/nirmal/heatsense-isro  •  Live: heatsense-isro.streamlit.app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